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-876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0589424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Diabetes Risk Analysis</a:t>
            </a:r>
            <a:endParaRPr dirty="0"/>
          </a:p>
        </p:txBody>
      </p:sp>
      <p:sp>
        <p:nvSpPr>
          <p:cNvPr id="85" name="Google Shape;85;p13"/>
          <p:cNvSpPr txBox="1">
            <a:spLocks noGrp="1"/>
          </p:cNvSpPr>
          <p:nvPr>
            <p:ph type="body" idx="1"/>
          </p:nvPr>
        </p:nvSpPr>
        <p:spPr>
          <a:xfrm>
            <a:off x="397375" y="1417650"/>
            <a:ext cx="8229600" cy="30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Machine Learning &amp; Data Visualization</a:t>
            </a:r>
            <a:endParaRPr dirty="0"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 Viva Presentation</a:t>
            </a:r>
            <a:endParaRPr dirty="0"/>
          </a:p>
        </p:txBody>
      </p:sp>
      <p:pic>
        <p:nvPicPr>
          <p:cNvPr id="86" name="Google Shape;86;p13"/>
          <p:cNvPicPr preferRelativeResize="0"/>
          <p:nvPr/>
        </p:nvPicPr>
        <p:blipFill rotWithShape="1">
          <a:blip r:embed="rId3">
            <a:alphaModFix/>
          </a:blip>
          <a:srcRect b="21222"/>
          <a:stretch/>
        </p:blipFill>
        <p:spPr>
          <a:xfrm>
            <a:off x="2084975" y="2641525"/>
            <a:ext cx="4156650" cy="2960499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2443800" y="5043825"/>
            <a:ext cx="4256400" cy="8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Machine Learning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" grpId="0"/>
      <p:bldP spid="85" grpId="0" build="p"/>
      <p:bldP spid="8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>
            <a:spLocks noGrp="1"/>
          </p:cNvSpPr>
          <p:nvPr>
            <p:ph type="title"/>
          </p:nvPr>
        </p:nvSpPr>
        <p:spPr>
          <a:xfrm>
            <a:off x="457200" y="274648"/>
            <a:ext cx="8229600" cy="9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 Objective</a:t>
            </a:r>
            <a:endParaRPr/>
          </a:p>
        </p:txBody>
      </p:sp>
      <p:sp>
        <p:nvSpPr>
          <p:cNvPr id="93" name="Google Shape;93;p14"/>
          <p:cNvSpPr txBox="1">
            <a:spLocks noGrp="1"/>
          </p:cNvSpPr>
          <p:nvPr>
            <p:ph type="body" idx="1"/>
          </p:nvPr>
        </p:nvSpPr>
        <p:spPr>
          <a:xfrm>
            <a:off x="457200" y="1378100"/>
            <a:ext cx="8229600" cy="3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Predict diabetes risk using health data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ML models and visual analytics</a:t>
            </a:r>
            <a:endParaRPr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0116" y="2779943"/>
            <a:ext cx="5203768" cy="356592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Dataset Overview</a:t>
            </a:r>
            <a:endParaRPr/>
          </a:p>
        </p:txBody>
      </p:sp>
      <p:sp>
        <p:nvSpPr>
          <p:cNvPr id="100" name="Google Shape;100;p15"/>
          <p:cNvSpPr txBox="1">
            <a:spLocks noGrp="1"/>
          </p:cNvSpPr>
          <p:nvPr>
            <p:ph type="body" idx="1"/>
          </p:nvPr>
        </p:nvSpPr>
        <p:spPr>
          <a:xfrm>
            <a:off x="457200" y="1417657"/>
            <a:ext cx="8229600" cy="1376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Age, BMI, Glucose, Blood Pressure</a:t>
            </a:r>
            <a:r>
              <a:rPr lang="en-US" dirty="0"/>
              <a:t>, Insulin, </a:t>
            </a:r>
            <a:endParaRPr dirty="0"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Target: Diabetes Outcome</a:t>
            </a:r>
            <a:endParaRPr sz="3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64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" name="Rectangle 1"/>
          <p:cNvSpPr/>
          <p:nvPr/>
        </p:nvSpPr>
        <p:spPr>
          <a:xfrm>
            <a:off x="2297151" y="3557239"/>
            <a:ext cx="2341756" cy="13381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4638909" y="3557239"/>
            <a:ext cx="2341756" cy="13381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2297153" y="3843454"/>
            <a:ext cx="1957347" cy="13381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4250305" y="3843454"/>
            <a:ext cx="1558689" cy="13381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549833" y="3470257"/>
            <a:ext cx="6527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/>
              <a:t>Glucose</a:t>
            </a:r>
            <a:endParaRPr lang="en-US" sz="1000" dirty="0"/>
          </a:p>
        </p:txBody>
      </p:sp>
      <p:sp>
        <p:nvSpPr>
          <p:cNvPr id="14" name="TextBox 13"/>
          <p:cNvSpPr txBox="1"/>
          <p:nvPr/>
        </p:nvSpPr>
        <p:spPr>
          <a:xfrm>
            <a:off x="1817756" y="3771861"/>
            <a:ext cx="4122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/>
              <a:t>BMI</a:t>
            </a:r>
            <a:endParaRPr lang="en-US" sz="1200" dirty="0"/>
          </a:p>
        </p:txBody>
      </p:sp>
      <p:sp>
        <p:nvSpPr>
          <p:cNvPr id="19" name="Rectangle 18"/>
          <p:cNvSpPr/>
          <p:nvPr/>
        </p:nvSpPr>
        <p:spPr>
          <a:xfrm>
            <a:off x="2297151" y="4116039"/>
            <a:ext cx="1525549" cy="13381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3822700" y="4116039"/>
            <a:ext cx="1473200" cy="13381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2297154" y="4402254"/>
            <a:ext cx="1170876" cy="13098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3468030" y="4402254"/>
            <a:ext cx="1119846" cy="13381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1817756" y="4039356"/>
            <a:ext cx="4106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/>
              <a:t>Age</a:t>
            </a:r>
            <a:endParaRPr lang="en-US" sz="1200" dirty="0"/>
          </a:p>
        </p:txBody>
      </p:sp>
      <p:sp>
        <p:nvSpPr>
          <p:cNvPr id="30" name="TextBox 29"/>
          <p:cNvSpPr txBox="1"/>
          <p:nvPr/>
        </p:nvSpPr>
        <p:spPr>
          <a:xfrm>
            <a:off x="516178" y="4326636"/>
            <a:ext cx="16866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 smtClean="0"/>
              <a:t>DiabetesPedigreeFunction</a:t>
            </a:r>
            <a:endParaRPr lang="en-US" sz="1200" dirty="0"/>
          </a:p>
        </p:txBody>
      </p:sp>
      <p:sp>
        <p:nvSpPr>
          <p:cNvPr id="34" name="Rectangle 33"/>
          <p:cNvSpPr/>
          <p:nvPr/>
        </p:nvSpPr>
        <p:spPr>
          <a:xfrm>
            <a:off x="2297151" y="4623499"/>
            <a:ext cx="784993" cy="13381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3075533" y="4623499"/>
            <a:ext cx="784993" cy="13381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2290165" y="4823839"/>
            <a:ext cx="592427" cy="13381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2882593" y="4823839"/>
            <a:ext cx="654358" cy="13381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2290165" y="5036249"/>
            <a:ext cx="784993" cy="13381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/>
          <p:cNvSpPr/>
          <p:nvPr/>
        </p:nvSpPr>
        <p:spPr>
          <a:xfrm>
            <a:off x="3068547" y="5036249"/>
            <a:ext cx="784993" cy="13381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/>
          <p:cNvSpPr txBox="1"/>
          <p:nvPr/>
        </p:nvSpPr>
        <p:spPr>
          <a:xfrm>
            <a:off x="1199393" y="4538352"/>
            <a:ext cx="102143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 smtClean="0"/>
              <a:t>BloodPressure</a:t>
            </a:r>
            <a:endParaRPr lang="en-US" sz="1200" dirty="0"/>
          </a:p>
        </p:txBody>
      </p:sp>
      <p:sp>
        <p:nvSpPr>
          <p:cNvPr id="41" name="TextBox 40"/>
          <p:cNvSpPr txBox="1"/>
          <p:nvPr/>
        </p:nvSpPr>
        <p:spPr>
          <a:xfrm>
            <a:off x="1600243" y="4796443"/>
            <a:ext cx="5966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 smtClean="0"/>
              <a:t>Insulin</a:t>
            </a:r>
            <a:endParaRPr lang="en-US" sz="1200" b="1" dirty="0"/>
          </a:p>
        </p:txBody>
      </p:sp>
      <p:sp>
        <p:nvSpPr>
          <p:cNvPr id="42" name="TextBox 41"/>
          <p:cNvSpPr txBox="1"/>
          <p:nvPr/>
        </p:nvSpPr>
        <p:spPr>
          <a:xfrm>
            <a:off x="1117643" y="4996153"/>
            <a:ext cx="109998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 err="1" smtClean="0"/>
              <a:t>SKinThickness</a:t>
            </a:r>
            <a:endParaRPr lang="en-US" sz="12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1920194" y="5646420"/>
            <a:ext cx="53607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Mean (|SHAP value|) (average impact on mode output </a:t>
            </a:r>
            <a:r>
              <a:rPr lang="en-US" dirty="0" err="1" smtClean="0"/>
              <a:t>magnietiuc</a:t>
            </a:r>
            <a:endParaRPr lang="en-US" dirty="0"/>
          </a:p>
        </p:txBody>
      </p:sp>
      <p:cxnSp>
        <p:nvCxnSpPr>
          <p:cNvPr id="28" name="Straight Connector 27"/>
          <p:cNvCxnSpPr/>
          <p:nvPr/>
        </p:nvCxnSpPr>
        <p:spPr>
          <a:xfrm>
            <a:off x="2284454" y="3225800"/>
            <a:ext cx="0" cy="2159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>
            <a:off x="2287625" y="5334000"/>
            <a:ext cx="535523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2053860" y="5400477"/>
            <a:ext cx="5325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0.00</a:t>
            </a:r>
            <a:endParaRPr lang="en-US" dirty="0"/>
          </a:p>
        </p:txBody>
      </p:sp>
      <p:cxnSp>
        <p:nvCxnSpPr>
          <p:cNvPr id="51" name="Straight Connector 50"/>
          <p:cNvCxnSpPr/>
          <p:nvPr/>
        </p:nvCxnSpPr>
        <p:spPr>
          <a:xfrm>
            <a:off x="3082144" y="5334000"/>
            <a:ext cx="0" cy="664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2852770" y="5394523"/>
            <a:ext cx="5325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0.05</a:t>
            </a:r>
            <a:endParaRPr lang="en-US" dirty="0"/>
          </a:p>
        </p:txBody>
      </p:sp>
      <p:cxnSp>
        <p:nvCxnSpPr>
          <p:cNvPr id="60" name="Straight Connector 59"/>
          <p:cNvCxnSpPr/>
          <p:nvPr/>
        </p:nvCxnSpPr>
        <p:spPr>
          <a:xfrm>
            <a:off x="3765563" y="5334000"/>
            <a:ext cx="0" cy="664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/>
          <p:cNvCxnSpPr/>
          <p:nvPr/>
        </p:nvCxnSpPr>
        <p:spPr>
          <a:xfrm>
            <a:off x="4360875" y="5334000"/>
            <a:ext cx="0" cy="664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3499304" y="5400873"/>
            <a:ext cx="5325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0.10</a:t>
            </a:r>
            <a:endParaRPr lang="en-US" dirty="0"/>
          </a:p>
        </p:txBody>
      </p:sp>
      <p:sp>
        <p:nvSpPr>
          <p:cNvPr id="63" name="TextBox 62"/>
          <p:cNvSpPr txBox="1"/>
          <p:nvPr/>
        </p:nvSpPr>
        <p:spPr>
          <a:xfrm>
            <a:off x="4106391" y="5402143"/>
            <a:ext cx="5325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0.15</a:t>
            </a:r>
            <a:endParaRPr lang="en-US" dirty="0"/>
          </a:p>
        </p:txBody>
      </p:sp>
      <p:cxnSp>
        <p:nvCxnSpPr>
          <p:cNvPr id="64" name="Straight Connector 63"/>
          <p:cNvCxnSpPr/>
          <p:nvPr/>
        </p:nvCxnSpPr>
        <p:spPr>
          <a:xfrm>
            <a:off x="4909515" y="5341620"/>
            <a:ext cx="0" cy="664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4644856" y="5387777"/>
            <a:ext cx="5325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0.20</a:t>
            </a:r>
            <a:endParaRPr lang="en-US" dirty="0"/>
          </a:p>
        </p:txBody>
      </p:sp>
      <p:cxnSp>
        <p:nvCxnSpPr>
          <p:cNvPr id="67" name="Straight Connector 66"/>
          <p:cNvCxnSpPr/>
          <p:nvPr/>
        </p:nvCxnSpPr>
        <p:spPr>
          <a:xfrm>
            <a:off x="5473395" y="5334000"/>
            <a:ext cx="0" cy="664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Straight Connector 67"/>
          <p:cNvCxnSpPr/>
          <p:nvPr/>
        </p:nvCxnSpPr>
        <p:spPr>
          <a:xfrm>
            <a:off x="6022035" y="5341620"/>
            <a:ext cx="0" cy="664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5207788" y="5402143"/>
            <a:ext cx="5325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0.25</a:t>
            </a:r>
            <a:endParaRPr lang="en-US" dirty="0"/>
          </a:p>
        </p:txBody>
      </p:sp>
      <p:sp>
        <p:nvSpPr>
          <p:cNvPr id="70" name="TextBox 69"/>
          <p:cNvSpPr txBox="1"/>
          <p:nvPr/>
        </p:nvSpPr>
        <p:spPr>
          <a:xfrm>
            <a:off x="5755776" y="5402143"/>
            <a:ext cx="5325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0.30</a:t>
            </a:r>
            <a:endParaRPr lang="en-US" dirty="0"/>
          </a:p>
        </p:txBody>
      </p:sp>
      <p:sp>
        <p:nvSpPr>
          <p:cNvPr id="52" name="Rectangle 51"/>
          <p:cNvSpPr/>
          <p:nvPr/>
        </p:nvSpPr>
        <p:spPr>
          <a:xfrm>
            <a:off x="6586965" y="4919553"/>
            <a:ext cx="662195" cy="12311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/>
          <p:cNvSpPr/>
          <p:nvPr/>
        </p:nvSpPr>
        <p:spPr>
          <a:xfrm>
            <a:off x="6586964" y="5108508"/>
            <a:ext cx="662195" cy="12311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/>
          <p:nvPr/>
        </p:nvSpPr>
        <p:spPr>
          <a:xfrm>
            <a:off x="7249159" y="5016175"/>
            <a:ext cx="7825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Class 1</a:t>
            </a:r>
            <a:endParaRPr lang="en-US" dirty="0"/>
          </a:p>
        </p:txBody>
      </p:sp>
      <p:sp>
        <p:nvSpPr>
          <p:cNvPr id="74" name="TextBox 73"/>
          <p:cNvSpPr txBox="1"/>
          <p:nvPr/>
        </p:nvSpPr>
        <p:spPr>
          <a:xfrm>
            <a:off x="7252382" y="4842264"/>
            <a:ext cx="7825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Class 0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9" grpId="0" animBg="1"/>
      <p:bldP spid="10" grpId="0" animBg="1"/>
      <p:bldP spid="19" grpId="0" animBg="1"/>
      <p:bldP spid="20" grpId="0" animBg="1"/>
      <p:bldP spid="21" grpId="0" animBg="1"/>
      <p:bldP spid="22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Correlation Heatmap</a:t>
            </a:r>
            <a:endParaRPr/>
          </a:p>
        </p:txBody>
      </p:sp>
      <p:sp>
        <p:nvSpPr>
          <p:cNvPr id="107" name="Google Shape;107;p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Shows relationship between features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Helps in feature selection</a:t>
            </a:r>
            <a:endParaRPr/>
          </a:p>
        </p:txBody>
      </p:sp>
      <p:pic>
        <p:nvPicPr>
          <p:cNvPr id="108" name="Google Shape;108;p16" title="Screenshot-2020-09-29-at-11.19.40-AM-300x24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1725" y="2778300"/>
            <a:ext cx="4246475" cy="348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BMI vs Glucose Graph</a:t>
            </a:r>
            <a:endParaRPr/>
          </a:p>
        </p:txBody>
      </p:sp>
      <p:sp>
        <p:nvSpPr>
          <p:cNvPr id="114" name="Google Shape;114;p1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Visual risk zones for diabetes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Higher BMI &amp; glucose = higher risk</a:t>
            </a:r>
            <a:endParaRPr/>
          </a:p>
        </p:txBody>
      </p:sp>
      <p:pic>
        <p:nvPicPr>
          <p:cNvPr id="115" name="Google Shape;115;p17" title="plot-bmi-vs-glucose-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0423" y="2832188"/>
            <a:ext cx="5821176" cy="359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 txBox="1">
            <a:spLocks noGrp="1"/>
          </p:cNvSpPr>
          <p:nvPr>
            <p:ph type="title"/>
          </p:nvPr>
        </p:nvSpPr>
        <p:spPr>
          <a:xfrm>
            <a:off x="457200" y="22038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 Comparison</a:t>
            </a:r>
            <a:endParaRPr dirty="0"/>
          </a:p>
        </p:txBody>
      </p:sp>
      <p:sp>
        <p:nvSpPr>
          <p:cNvPr id="121" name="Google Shape;121;p18"/>
          <p:cNvSpPr txBox="1">
            <a:spLocks noGrp="1"/>
          </p:cNvSpPr>
          <p:nvPr>
            <p:ph type="body" idx="1"/>
          </p:nvPr>
        </p:nvSpPr>
        <p:spPr>
          <a:xfrm>
            <a:off x="457199" y="1198703"/>
            <a:ext cx="858883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Logistic Regression, </a:t>
            </a:r>
            <a:r>
              <a:rPr lang="en-US" dirty="0"/>
              <a:t>SVM</a:t>
            </a: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32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Random Forest, </a:t>
            </a:r>
            <a:r>
              <a:rPr lang="en-US" dirty="0" smtClean="0"/>
              <a:t>Gradient Boosting</a:t>
            </a:r>
            <a:endParaRPr dirty="0"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Best model selected by accuracy</a:t>
            </a:r>
            <a:endParaRPr dirty="0"/>
          </a:p>
        </p:txBody>
      </p:sp>
      <p:sp>
        <p:nvSpPr>
          <p:cNvPr id="2" name="Rectangle 1"/>
          <p:cNvSpPr/>
          <p:nvPr/>
        </p:nvSpPr>
        <p:spPr>
          <a:xfrm>
            <a:off x="3672075" y="3570514"/>
            <a:ext cx="3743486" cy="52251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672075" y="4194629"/>
            <a:ext cx="3091680" cy="52251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672075" y="4853154"/>
            <a:ext cx="2745946" cy="52251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672075" y="5477269"/>
            <a:ext cx="3126946" cy="52251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105621" y="3677882"/>
            <a:ext cx="15664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Logistic Regression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395901" y="4301997"/>
            <a:ext cx="12554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RandomForest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047565" y="4960522"/>
            <a:ext cx="16177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buClr>
                <a:schemeClr val="dk1"/>
              </a:buClr>
              <a:buSzPts val="3200"/>
            </a:pPr>
            <a:r>
              <a:rPr lang="en-US" dirty="0"/>
              <a:t>Gradient Boosting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3078059" y="5584637"/>
            <a:ext cx="5741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SVM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672075" y="3410857"/>
            <a:ext cx="3933411" cy="2917372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3668130" y="6309179"/>
            <a:ext cx="0" cy="80735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4115805" y="6315529"/>
            <a:ext cx="0" cy="80735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592055" y="6315529"/>
            <a:ext cx="0" cy="80735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061955" y="6315529"/>
            <a:ext cx="0" cy="74385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5576305" y="6315529"/>
            <a:ext cx="0" cy="74385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001755" y="6315529"/>
            <a:ext cx="0" cy="74385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6382755" y="6315529"/>
            <a:ext cx="0" cy="74385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6763755" y="6315529"/>
            <a:ext cx="0" cy="74385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532454" y="6396264"/>
            <a:ext cx="2551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/>
              <a:t>0</a:t>
            </a:r>
            <a:endParaRPr lang="en-US" sz="1000" dirty="0"/>
          </a:p>
        </p:txBody>
      </p:sp>
      <p:sp>
        <p:nvSpPr>
          <p:cNvPr id="33" name="TextBox 32"/>
          <p:cNvSpPr txBox="1"/>
          <p:nvPr/>
        </p:nvSpPr>
        <p:spPr>
          <a:xfrm>
            <a:off x="3952940" y="6396264"/>
            <a:ext cx="3257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/>
              <a:t>10</a:t>
            </a:r>
            <a:endParaRPr lang="en-US" sz="1000" dirty="0"/>
          </a:p>
        </p:txBody>
      </p:sp>
      <p:sp>
        <p:nvSpPr>
          <p:cNvPr id="34" name="TextBox 33"/>
          <p:cNvSpPr txBox="1"/>
          <p:nvPr/>
        </p:nvSpPr>
        <p:spPr>
          <a:xfrm>
            <a:off x="4464456" y="6389914"/>
            <a:ext cx="3257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/>
              <a:t>20</a:t>
            </a:r>
            <a:endParaRPr lang="en-US" sz="1000" dirty="0"/>
          </a:p>
        </p:txBody>
      </p:sp>
      <p:sp>
        <p:nvSpPr>
          <p:cNvPr id="35" name="TextBox 34"/>
          <p:cNvSpPr txBox="1"/>
          <p:nvPr/>
        </p:nvSpPr>
        <p:spPr>
          <a:xfrm>
            <a:off x="4934356" y="6389913"/>
            <a:ext cx="3257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/>
              <a:t>30</a:t>
            </a:r>
            <a:endParaRPr lang="en-US" sz="1000" dirty="0"/>
          </a:p>
        </p:txBody>
      </p:sp>
      <p:sp>
        <p:nvSpPr>
          <p:cNvPr id="36" name="TextBox 35"/>
          <p:cNvSpPr txBox="1"/>
          <p:nvPr/>
        </p:nvSpPr>
        <p:spPr>
          <a:xfrm>
            <a:off x="5448706" y="6389912"/>
            <a:ext cx="3257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/>
              <a:t>40</a:t>
            </a:r>
            <a:endParaRPr lang="en-US" sz="1000" dirty="0"/>
          </a:p>
        </p:txBody>
      </p:sp>
      <p:sp>
        <p:nvSpPr>
          <p:cNvPr id="37" name="TextBox 36"/>
          <p:cNvSpPr txBox="1"/>
          <p:nvPr/>
        </p:nvSpPr>
        <p:spPr>
          <a:xfrm>
            <a:off x="5874156" y="6370840"/>
            <a:ext cx="3257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/>
              <a:t>50</a:t>
            </a:r>
            <a:endParaRPr lang="en-US" sz="1000" dirty="0"/>
          </a:p>
        </p:txBody>
      </p:sp>
      <p:sp>
        <p:nvSpPr>
          <p:cNvPr id="38" name="TextBox 37"/>
          <p:cNvSpPr txBox="1"/>
          <p:nvPr/>
        </p:nvSpPr>
        <p:spPr>
          <a:xfrm>
            <a:off x="6255156" y="6389914"/>
            <a:ext cx="3257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/>
              <a:t>60</a:t>
            </a:r>
            <a:endParaRPr lang="en-US" sz="1000" dirty="0"/>
          </a:p>
        </p:txBody>
      </p:sp>
      <p:sp>
        <p:nvSpPr>
          <p:cNvPr id="39" name="TextBox 38"/>
          <p:cNvSpPr txBox="1"/>
          <p:nvPr/>
        </p:nvSpPr>
        <p:spPr>
          <a:xfrm>
            <a:off x="6636156" y="6393704"/>
            <a:ext cx="3257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/>
              <a:t>70</a:t>
            </a:r>
            <a:endParaRPr lang="en-US" sz="1000" dirty="0"/>
          </a:p>
        </p:txBody>
      </p:sp>
      <p:sp>
        <p:nvSpPr>
          <p:cNvPr id="30" name="TextBox 29"/>
          <p:cNvSpPr txBox="1"/>
          <p:nvPr/>
        </p:nvSpPr>
        <p:spPr>
          <a:xfrm>
            <a:off x="7423819" y="3677882"/>
            <a:ext cx="7922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71.25%</a:t>
            </a:r>
            <a:endParaRPr 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6802614" y="4301997"/>
            <a:ext cx="7922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67.50%</a:t>
            </a:r>
          </a:p>
          <a:p>
            <a:endParaRPr 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6424750" y="4960522"/>
            <a:ext cx="7922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61.88%</a:t>
            </a:r>
            <a:endParaRPr 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6837336" y="5584637"/>
            <a:ext cx="7922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64.38%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 Architecture</a:t>
            </a:r>
            <a:endParaRPr/>
          </a:p>
        </p:txBody>
      </p:sp>
      <p:sp>
        <p:nvSpPr>
          <p:cNvPr id="128" name="Google Shape;128;p1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Flask Web App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ML Model + Visual Graphs</a:t>
            </a:r>
            <a:endParaRPr/>
          </a:p>
        </p:txBody>
      </p:sp>
      <p:pic>
        <p:nvPicPr>
          <p:cNvPr id="129" name="Google Shape;12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3650" y="3374750"/>
            <a:ext cx="6941674" cy="248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Advantages</a:t>
            </a:r>
            <a:endParaRPr/>
          </a:p>
        </p:txBody>
      </p:sp>
      <p:sp>
        <p:nvSpPr>
          <p:cNvPr id="135" name="Google Shape;135;p2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Easy interpretation</a:t>
            </a:r>
            <a:endParaRPr dirty="0"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Modern UI</a:t>
            </a:r>
            <a:endParaRPr dirty="0"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Explainable ML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Future Scope</a:t>
            </a:r>
            <a:endParaRPr/>
          </a:p>
        </p:txBody>
      </p:sp>
      <p:sp>
        <p:nvSpPr>
          <p:cNvPr id="141" name="Google Shape;141;p21"/>
          <p:cNvSpPr txBox="1">
            <a:spLocks noGrp="1"/>
          </p:cNvSpPr>
          <p:nvPr>
            <p:ph type="body" idx="1"/>
          </p:nvPr>
        </p:nvSpPr>
        <p:spPr>
          <a:xfrm>
            <a:off x="457200" y="1166013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More data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Advanced ML models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Interactive dashboards</a:t>
            </a:r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8971" y="3156856"/>
            <a:ext cx="5646058" cy="317590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/>
          </a:p>
        </p:txBody>
      </p:sp>
      <p:sp>
        <p:nvSpPr>
          <p:cNvPr id="148" name="Google Shape;148;p2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ML + Visualization improves healthcare insights</a:t>
            </a:r>
            <a:endParaRPr dirty="0"/>
          </a:p>
          <a:p>
            <a:pPr marL="342900" lvl="0" indent="0" algn="ctr" rtl="0">
              <a:spcBef>
                <a:spcPts val="640"/>
              </a:spcBef>
              <a:spcAft>
                <a:spcPts val="0"/>
              </a:spcAft>
              <a:buNone/>
            </a:pPr>
            <a:endParaRPr sz="5500" dirty="0"/>
          </a:p>
          <a:p>
            <a:pPr marL="342900" lvl="0" indent="0" algn="ctr" rtl="0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5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sz="55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390</TotalTime>
  <Words>174</Words>
  <Application>Microsoft Office PowerPoint</Application>
  <PresentationFormat>On-screen Show (4:3)</PresentationFormat>
  <Paragraphs>67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Diabetes Risk Analysis</vt:lpstr>
      <vt:lpstr>Project Objective</vt:lpstr>
      <vt:lpstr>Dataset Overview</vt:lpstr>
      <vt:lpstr>Correlation Heatmap</vt:lpstr>
      <vt:lpstr>BMI vs Glucose Graph</vt:lpstr>
      <vt:lpstr>Model Comparison</vt:lpstr>
      <vt:lpstr>System Architecture</vt:lpstr>
      <vt:lpstr>Advantages</vt:lpstr>
      <vt:lpstr>Future Scope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Diabetes Risk Analysis</dc:title>
  <dc:creator>RahmanTalukder</dc:creator>
  <cp:lastModifiedBy>RahmanTalukder</cp:lastModifiedBy>
  <cp:revision>13</cp:revision>
  <dcterms:modified xsi:type="dcterms:W3CDTF">2025-12-31T19:01:10Z</dcterms:modified>
</cp:coreProperties>
</file>